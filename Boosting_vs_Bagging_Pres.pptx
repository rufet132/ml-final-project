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32B45"/>
                </a:solidFill>
                <a:latin typeface="Arial"/>
              </a:defRPr>
            </a:pPr>
            <a:r>
              <a:rPr lang="az-Latn-AZ" sz="1400" b="0" i="0" u="none" strike="noStrike">
                <a:solidFill>
                  <a:srgbClr val="232B45"/>
                </a:solidFill>
                <a:latin typeface="Arial"/>
              </a:rPr>
              <a:t>Performance Delta: Boosting − Bagging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Boosting edge (pct pts, + = Boosting wins)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90-4479-A520-27B816BFD077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90-4479-A520-27B816BFD077}"/>
              </c:ext>
            </c:extLst>
          </c:dPt>
          <c:dPt>
            <c:idx val="2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90-4479-A520-27B816BFD077}"/>
              </c:ext>
            </c:extLst>
          </c:dPt>
          <c:dPt>
            <c:idx val="3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790-4479-A520-27B816BFD077}"/>
              </c:ext>
            </c:extLst>
          </c:dPt>
          <c:dLbls>
            <c:numFmt formatCode="\+0.00;\-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32B45"/>
                    </a:solidFill>
                    <a:latin typeface="Arial"/>
                  </a:defRPr>
                </a:pPr>
                <a:endParaRPr lang="az-Latn-AZ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Breast Cancer
(Accuracy)</c:v>
                </c:pt>
                <c:pt idx="1">
                  <c:v>Adult Income
(Accuracy)</c:v>
                </c:pt>
                <c:pt idx="2">
                  <c:v>MNIST 3-vs-8
(Accuracy)</c:v>
                </c:pt>
                <c:pt idx="3">
                  <c:v>Covertype
(Macro F1)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0.53</c:v>
                </c:pt>
                <c:pt idx="1">
                  <c:v>-0.47</c:v>
                </c:pt>
                <c:pt idx="2">
                  <c:v>-2.99</c:v>
                </c:pt>
                <c:pt idx="3">
                  <c:v>-13.62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790-4479-A520-27B816BFD0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B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6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7290"/>
                    </a:solidFill>
                    <a:latin typeface="Arial"/>
                  </a:defRPr>
                </a:pPr>
                <a:r>
                  <a:rPr lang="az-Latn-AZ" sz="1100" b="0" i="0" u="none" strike="noStrike">
                    <a:solidFill>
                      <a:srgbClr val="6B7290"/>
                    </a:solidFill>
                    <a:latin typeface="Arial"/>
                  </a:rPr>
                  <a:t>Percentage points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9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232B45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232B45"/>
                </a:solidFill>
                <a:latin typeface="Arial"/>
              </a:rPr>
              <a:t>Variance Reduction vs. Single Tree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Reduction (%)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D71-4010-AE03-9E4FE303D4DA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D71-4010-AE03-9E4FE303D4DA}"/>
              </c:ext>
            </c:extLst>
          </c:dPt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az-Latn-AZ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AdaBoost</c:v>
                </c:pt>
                <c:pt idx="1">
                  <c:v>Random Forest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D71-4010-AE03-9E4FE303D4D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32B4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6805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4206240"/>
            <a:ext cx="3840480" cy="3840480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3" name="Shape 1"/>
          <p:cNvSpPr/>
          <p:nvPr/>
        </p:nvSpPr>
        <p:spPr>
          <a:xfrm>
            <a:off x="10607040" y="3291840"/>
            <a:ext cx="2743200" cy="2743200"/>
          </a:xfrm>
          <a:prstGeom prst="ellipse">
            <a:avLst/>
          </a:prstGeom>
          <a:solidFill>
            <a:srgbClr val="2C3A8C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4" name="Shape 2"/>
          <p:cNvSpPr/>
          <p:nvPr/>
        </p:nvSpPr>
        <p:spPr>
          <a:xfrm>
            <a:off x="8595360" y="5120640"/>
            <a:ext cx="1828800" cy="18288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· FINAL PROJECT REPORT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 vs. Bagging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Empirical Comparison of Ensemble Methods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Analysis of AdaBoost and Random Forest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51206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Rufet Dosteliyev   ·   Raul Agayev   ·   Emil Ahmedli   ·   Nicat Eleskerli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5532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Academy, National AI Center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852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Motivation &amp; Research Question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126480" cy="301752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“Under what conditions does boosting outperform bagging, and vice versa — and why?”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040880" y="1645920"/>
            <a:ext cx="457200" cy="457200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8" name="Text 6"/>
          <p:cNvSpPr/>
          <p:nvPr/>
        </p:nvSpPr>
        <p:spPr>
          <a:xfrm>
            <a:off x="704088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8096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study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80960" y="19659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Custom, from-scratch implementations of every core algorithm — not library black boxes.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040880" y="2697480"/>
            <a:ext cx="457200" cy="457200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12" name="Text 10"/>
          <p:cNvSpPr/>
          <p:nvPr/>
        </p:nvSpPr>
        <p:spPr>
          <a:xfrm>
            <a:off x="704088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8096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lens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80960" y="301752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expose how each paradigm trades bias against variance as complexity grows.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040880" y="3749040"/>
            <a:ext cx="457200" cy="457200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16" name="Text 14"/>
          <p:cNvSpPr/>
          <p:nvPr/>
        </p:nvSpPr>
        <p:spPr>
          <a:xfrm>
            <a:off x="7040880" y="3749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80960" y="37033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robustness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80960" y="406908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 under label noise to see which ensemble degrades gracefully.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From-Scratch Implementations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5F6FA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5" name="Shape 3"/>
          <p:cNvSpPr/>
          <p:nvPr/>
        </p:nvSpPr>
        <p:spPr>
          <a:xfrm>
            <a:off x="868680" y="2057400"/>
            <a:ext cx="822960" cy="822960"/>
          </a:xfrm>
          <a:prstGeom prst="ellipse">
            <a:avLst/>
          </a:prstGeom>
          <a:solidFill>
            <a:srgbClr val="6B7290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methodology with exhaustive split search. Supports Gini impurity or entropy, plus sample_weight for the boosting module.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5F6FA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10" name="Shape 8"/>
          <p:cNvSpPr/>
          <p:nvPr/>
        </p:nvSpPr>
        <p:spPr>
          <a:xfrm>
            <a:off x="4709160" y="205740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1" name="Text 9"/>
          <p:cNvSpPr/>
          <p:nvPr/>
        </p:nvSpPr>
        <p:spPr>
          <a:xfrm>
            <a:off x="470916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09160" y="3063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9160" y="356616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SAMME variant using depth-1 stumps. Sample weights re-computed each round; stump trained on weighted data.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0" y="173736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5F6FA"/>
          </a:solidFill>
          <a:ln w="12700">
            <a:solidFill>
              <a:srgbClr val="E3E6F0"/>
            </a:solidFill>
            <a:prstDash val="solid"/>
          </a:ln>
        </p:spPr>
        <p:txBody>
          <a:bodyPr/>
          <a:lstStyle/>
          <a:p>
            <a:endParaRPr lang="az-Latn-AZ"/>
          </a:p>
        </p:txBody>
      </p:sp>
      <p:sp>
        <p:nvSpPr>
          <p:cNvPr id="15" name="Shape 13"/>
          <p:cNvSpPr/>
          <p:nvPr/>
        </p:nvSpPr>
        <p:spPr>
          <a:xfrm>
            <a:off x="8549640" y="205740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6" name="Text 14"/>
          <p:cNvSpPr/>
          <p:nvPr/>
        </p:nvSpPr>
        <p:spPr>
          <a:xfrm>
            <a:off x="854964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549640" y="30632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49640" y="3566160"/>
            <a:ext cx="288036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sampling with sqrt feature sub-sampling per split. Out-of-bag (OOB) error estimated from held-out trees.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486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https://github.com/Rufet132/v1.0-final</a:t>
            </a:r>
          </a:p>
        </p:txBody>
      </p:sp>
      <p:sp>
        <p:nvSpPr>
          <p:cNvPr id="20" name="Text 1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Overview &amp; Experimental Setup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192024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Breast Cancer Wisconsin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Clean, binary, low-dim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Adult Income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One-hot encoded, mild imbalance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Covertype (subset)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Multi-class, imbalanced (0.47% min.)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MNIST 3-vs-8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High-dimensional, raw pixels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548640" y="397764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5F6FA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6" name="Text 3"/>
          <p:cNvSpPr/>
          <p:nvPr/>
        </p:nvSpPr>
        <p:spPr>
          <a:xfrm>
            <a:off x="822960" y="397764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017520" y="39776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features; Adult rows with missing values dropped (&lt;8%); scaler fit on train split only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80060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5F6FA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Text 6"/>
          <p:cNvSpPr/>
          <p:nvPr/>
        </p:nvSpPr>
        <p:spPr>
          <a:xfrm>
            <a:off x="822960" y="480060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17520" y="480060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Macro F1, AUC-ROC (micro-averaged for multi-class)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5F6FA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2" name="Text 9"/>
          <p:cNvSpPr/>
          <p:nvPr/>
        </p:nvSpPr>
        <p:spPr>
          <a:xfrm>
            <a:off x="822960" y="562356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017520" y="56235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cross-validation, fixed random seed (42)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Head-to-Head: Boosting vs. Bagging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828800"/>
            <a:ext cx="274320" cy="2743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6" name="Text 3"/>
          <p:cNvSpPr/>
          <p:nvPr/>
        </p:nvSpPr>
        <p:spPr>
          <a:xfrm>
            <a:off x="8183880" y="17830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(AdaBoost) wins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818120" y="2240280"/>
            <a:ext cx="274320" cy="274320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8" name="Text 5"/>
          <p:cNvSpPr/>
          <p:nvPr/>
        </p:nvSpPr>
        <p:spPr>
          <a:xfrm>
            <a:off x="8183880" y="2194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(Random Forest) wins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18120" y="2834640"/>
            <a:ext cx="3794760" cy="3108960"/>
          </a:xfrm>
          <a:prstGeom prst="roundRect">
            <a:avLst>
              <a:gd name="adj" fmla="val 2941"/>
            </a:avLst>
          </a:prstGeom>
          <a:solidFill>
            <a:srgbClr val="F5F6FA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0" name="Text 7"/>
          <p:cNvSpPr/>
          <p:nvPr/>
        </p:nvSpPr>
        <p:spPr>
          <a:xfrm>
            <a:off x="8092440" y="3063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092440" y="34747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wins </a:t>
            </a: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 Breast Cancer (+0.53%)</a:t>
            </a: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wins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(+0.47%), MNIST (+2.99%), and decisively Covertype (+13.62% F1)</a:t>
            </a: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BEHAVIOUR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Forest: Scaling with Estimators</a:t>
            </a:r>
            <a:endParaRPr lang="en-US" sz="3200" dirty="0"/>
          </a:p>
        </p:txBody>
      </p:sp>
      <p:pic>
        <p:nvPicPr>
          <p:cNvPr id="4" name="Image 0" descr="figures/figures/rf_scaling/rf_scaling_breast_canc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440680" cy="21762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91363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Breast Cancer — stabilizes almost immediately</a:t>
            </a:r>
            <a:endParaRPr lang="en-US" sz="1150" dirty="0"/>
          </a:p>
        </p:txBody>
      </p:sp>
      <p:pic>
        <p:nvPicPr>
          <p:cNvPr id="6" name="Image 1" descr="figures/figures/rf_scaling/rf_scaling_cover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91640"/>
            <a:ext cx="5440680" cy="21762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2200" y="391363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Covertype — climbs steadily, then plateaus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5F6FA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Text 5"/>
          <p:cNvSpPr/>
          <p:nvPr/>
        </p:nvSpPr>
        <p:spPr>
          <a:xfrm>
            <a:off x="822960" y="4617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test accuracy climbs smoothly with more trees and settles into a stable plateau — adding estimators never hurts. OOB error tracks held-out test error closely across all four datasets, confirming it as a reliable, no-extra-cost validation signal.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BEHAVIOUR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AdaBoost: Scaling with Stumps</a:t>
            </a:r>
            <a:endParaRPr lang="en-US" sz="3200" dirty="0"/>
          </a:p>
        </p:txBody>
      </p:sp>
      <p:pic>
        <p:nvPicPr>
          <p:cNvPr id="4" name="Image 0" descr="figures/figures/adaboost_scaling/adaboost_scaling_breast_canc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212080" cy="32552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Breast Cancer — train error hits zero, test error plateaus</a:t>
            </a:r>
            <a:endParaRPr lang="en-US" sz="1150" dirty="0"/>
          </a:p>
        </p:txBody>
      </p:sp>
      <p:pic>
        <p:nvPicPr>
          <p:cNvPr id="6" name="Image 1" descr="figures/figures/adaboost_scaling/adaboost_scaling_cover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5212080" cy="32552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Covertype — both errors stay high and noisy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548640" y="5486400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Text 5"/>
          <p:cNvSpPr/>
          <p:nvPr/>
        </p:nvSpPr>
        <p:spPr>
          <a:xfrm>
            <a:off x="822960" y="548640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Point: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depth-1 stumps let AdaBoost drive training error to zero on simple data, but it plateaus — or fails to converge at all — once the decision boundary needs more than one split per round.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Sensitivity to Label Noise</a:t>
            </a:r>
            <a:endParaRPr lang="en-US" sz="3200" dirty="0"/>
          </a:p>
        </p:txBody>
      </p:sp>
      <p:pic>
        <p:nvPicPr>
          <p:cNvPr id="4" name="Image 0" descr="figures/figures/noise_robustness/noise_robustness_breast_canc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212080" cy="32552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Breast Cancer</a:t>
            </a:r>
            <a:endParaRPr lang="en-US" sz="1200" dirty="0"/>
          </a:p>
        </p:txBody>
      </p:sp>
      <p:pic>
        <p:nvPicPr>
          <p:cNvPr id="6" name="Image 1" descr="figures/figures/noise_robustness/noise_robustness_mnist_3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5212080" cy="32552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9360" y="4983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MNIST 3-vs-8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Text 5"/>
          <p:cNvSpPr/>
          <p:nvPr/>
        </p:nvSpPr>
        <p:spPr>
          <a:xfrm>
            <a:off x="822960" y="5486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r>
              <a:rPr lang="en-US" sz="13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AdaBoost's accuracy degrades 3–4× faster than Random Forest as label noise rises — its exponential reweighting locks onto mislabeled outliers, forcing later stumps to overfit corrupted points. Random Forest's independent bootstrap averaging smooths the damage out.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HAPPENS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Bias-Variance Trade-off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383280" cy="1828800"/>
          </a:xfrm>
          <a:prstGeom prst="roundRect">
            <a:avLst>
              <a:gd name="adj" fmla="val 5000"/>
            </a:avLst>
          </a:prstGeom>
          <a:solidFill>
            <a:srgbClr val="F5F6FA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3383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~17%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reduction — both ensembles, essentially tied vs. a single tree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206240" y="1691640"/>
          <a:ext cx="36576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8138160" y="1691640"/>
            <a:ext cx="347472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Text 6"/>
          <p:cNvSpPr/>
          <p:nvPr/>
        </p:nvSpPr>
        <p:spPr>
          <a:xfrm>
            <a:off x="8412480" y="1691640"/>
            <a:ext cx="2926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suppresses variance further — the source of its edge in stability and robustness.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164592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Bias²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Error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0.0696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AdaBoost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0.0439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0.0241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0.0439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0.0188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23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0.0533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bootstrap decomposition, 100 replicates — a ceiling effect ties bias reduction; variance is where the paradigms diverge.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INSIGHTS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Cluster-Label Agreement Foreshadows Difficulty</a:t>
            </a:r>
            <a:endParaRPr lang="en-US" sz="3200" dirty="0"/>
          </a:p>
        </p:txBody>
      </p:sp>
      <p:pic>
        <p:nvPicPr>
          <p:cNvPr id="4" name="Image 0" descr="figures/figures/unsupervised/pca_true_labels_breast_canc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4023360" cy="3017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800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— ARI = 0.67</a:t>
            </a:r>
            <a:endParaRPr lang="en-US" sz="1300" dirty="0"/>
          </a:p>
        </p:txBody>
      </p:sp>
      <p:pic>
        <p:nvPicPr>
          <p:cNvPr id="6" name="Image 1" descr="figures/figures/unsupervised/pca_true_labels_coverty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737360"/>
            <a:ext cx="4023360" cy="3017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94960" y="4800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Covertype — ARI ≈ 0.1–0.2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9646920" y="1737360"/>
            <a:ext cx="1965960" cy="3337560"/>
          </a:xfrm>
          <a:prstGeom prst="roundRect">
            <a:avLst>
              <a:gd name="adj" fmla="val 4651"/>
            </a:avLst>
          </a:prstGeom>
          <a:solidFill>
            <a:srgbClr val="F5F6FA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Text 5"/>
          <p:cNvSpPr/>
          <p:nvPr/>
        </p:nvSpPr>
        <p:spPr>
          <a:xfrm>
            <a:off x="9829800" y="1920240"/>
            <a:ext cx="16002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ARI predicts high ensemble accuracy. Low ARI correctly flags feature-space overlap and difficulty — data topology matters for model selection.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Boosting for Small &amp; Clean.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Bagging for Large &amp; Complex.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320040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960120" y="30449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reduction: 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suppresses variance 73% vs. AdaBoost's 65%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88620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7" name="Text 5"/>
          <p:cNvSpPr/>
          <p:nvPr/>
        </p:nvSpPr>
        <p:spPr>
          <a:xfrm>
            <a:off x="960120" y="37307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robustness: 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degrades 3–4× faster under label noise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57200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Text 7"/>
          <p:cNvSpPr/>
          <p:nvPr/>
        </p:nvSpPr>
        <p:spPr>
          <a:xfrm>
            <a:off x="960120" y="44165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Scalability:  </a:t>
            </a: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wins Adult, MNIST, and decisively Covertype as complexity grows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Extended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5F6FA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5" name="Text 3"/>
          <p:cNvSpPr/>
          <p:nvPr/>
        </p:nvSpPr>
        <p:spPr>
          <a:xfrm>
            <a:off x="86868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LIMITATION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used only depth-1 decision stumps. Single-axis splits cannot capture multi-feature interactions, which constrained ensemble expressiveness on complex, high-dimensional spaces like Covertype.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393192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weak learners (depth 3–8) could close the gap on multi-class problems.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7373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9" name="Text 7"/>
          <p:cNvSpPr/>
          <p:nvPr/>
        </p:nvSpPr>
        <p:spPr>
          <a:xfrm>
            <a:off x="6583680" y="1965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WORK — ALREADY DELIVERED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247802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1" name="Text 9"/>
          <p:cNvSpPr/>
          <p:nvPr/>
        </p:nvSpPr>
        <p:spPr>
          <a:xfrm>
            <a:off x="6858000" y="231343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Machines (GBM)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0" y="298094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3" name="Text 11"/>
          <p:cNvSpPr/>
          <p:nvPr/>
        </p:nvSpPr>
        <p:spPr>
          <a:xfrm>
            <a:off x="6858000" y="281635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SAMME.R real-valued boosting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348386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15" name="Text 13"/>
          <p:cNvSpPr/>
          <p:nvPr/>
        </p:nvSpPr>
        <p:spPr>
          <a:xfrm>
            <a:off x="6858000" y="331927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manifold visualizations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11480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bonus components corroborate the core findings and give deeper geometric visibility into ensemble decision boundaries.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32B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Hastie, Tibshirani &amp; Friedman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931920" y="17830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Elements of Statistical Learning, 2nd ed., Springer, 2009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Freund &amp; Schapire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25603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decision-theoretic generalization of on-line learning and an application to boosting, J. Comput. Syst. Sci., 1997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33375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predictors, Machine Learning, 1996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1148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4114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forests, Machine Learning, 2001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Quinlan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489204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232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Induction of decision trees, Machine Learning, 1986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4572000" cy="4572000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3" name="Shape 1"/>
          <p:cNvSpPr/>
          <p:nvPr/>
        </p:nvSpPr>
        <p:spPr>
          <a:xfrm>
            <a:off x="9692640" y="4754880"/>
            <a:ext cx="3840480" cy="3840480"/>
          </a:xfrm>
          <a:prstGeom prst="ellipse">
            <a:avLst/>
          </a:prstGeom>
          <a:solidFill>
            <a:srgbClr val="263177"/>
          </a:solidFill>
          <a:ln/>
        </p:spPr>
        <p:txBody>
          <a:bodyPr/>
          <a:lstStyle/>
          <a:p>
            <a:endParaRPr lang="az-Latn-AZ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dirty="0">
                <a:solidFill>
                  <a:schemeClr val="bg1"/>
                </a:solidFill>
              </a:rPr>
              <a:t>https://github.com/Rufet132/v1.0-final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922</Words>
  <Application>Microsoft Office PowerPoint</Application>
  <PresentationFormat>Widescreen</PresentationFormat>
  <Paragraphs>177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Əhmədli Emil</cp:lastModifiedBy>
  <cp:revision>2</cp:revision>
  <dcterms:created xsi:type="dcterms:W3CDTF">2026-07-18T12:56:17Z</dcterms:created>
  <dcterms:modified xsi:type="dcterms:W3CDTF">2026-07-18T18:33:39Z</dcterms:modified>
</cp:coreProperties>
</file>